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58"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9"/>
            <p14:sldId id="258"/>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41" dt="2026-10-09T17:15:39.3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5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NALITHA V S - [CB.EN.U4ARE25027]" userId="S::cb.en.u4are25027@cb.students.amrita.edu::d720fb97-b3ed-4a1c-aa2f-e5160664a6b6" providerId="AD" clId="Web-{00000000-0000-0000-0000-000000000000}"/>
    <pc:docChg chg="modSld sldOrd">
      <pc:chgData name="MIRNALITHA V S - [CB.EN.U4ARE25027]" userId="S::cb.en.u4are25027@cb.students.amrita.edu::d720fb97-b3ed-4a1c-aa2f-e5160664a6b6" providerId="AD" clId="Web-{00000000-0000-0000-0000-000000000000}" dt="2026-10-09T17:15:39.348" v="241" actId="20577"/>
      <pc:docMkLst>
        <pc:docMk/>
      </pc:docMkLst>
      <pc:sldChg chg="modSp">
        <pc:chgData name="MIRNALITHA V S - [CB.EN.U4ARE25027]" userId="S::cb.en.u4are25027@cb.students.amrita.edu::d720fb97-b3ed-4a1c-aa2f-e5160664a6b6" providerId="AD" clId="Web-{00000000-0000-0000-0000-000000000000}" dt="2026-10-09T17:15:39.348" v="241" actId="20577"/>
        <pc:sldMkLst>
          <pc:docMk/>
          <pc:sldMk cId="0" sldId="256"/>
        </pc:sldMkLst>
        <pc:spChg chg="mod">
          <ac:chgData name="MIRNALITHA V S - [CB.EN.U4ARE25027]" userId="S::cb.en.u4are25027@cb.students.amrita.edu::d720fb97-b3ed-4a1c-aa2f-e5160664a6b6" providerId="AD" clId="Web-{00000000-0000-0000-0000-000000000000}" dt="2026-10-09T17:15:39.348" v="241" actId="20577"/>
          <ac:spMkLst>
            <pc:docMk/>
            <pc:sldMk cId="0" sldId="256"/>
            <ac:spMk id="15" creationId="{00000000-0000-0000-0000-000000000000}"/>
          </ac:spMkLst>
        </pc:spChg>
      </pc:sldChg>
      <pc:sldChg chg="modSp">
        <pc:chgData name="MIRNALITHA V S - [CB.EN.U4ARE25027]" userId="S::cb.en.u4are25027@cb.students.amrita.edu::d720fb97-b3ed-4a1c-aa2f-e5160664a6b6" providerId="AD" clId="Web-{00000000-0000-0000-0000-000000000000}" dt="2026-10-09T17:02:49.547" v="160" actId="20577"/>
        <pc:sldMkLst>
          <pc:docMk/>
          <pc:sldMk cId="0" sldId="257"/>
        </pc:sldMkLst>
        <pc:spChg chg="mod">
          <ac:chgData name="MIRNALITHA V S - [CB.EN.U4ARE25027]" userId="S::cb.en.u4are25027@cb.students.amrita.edu::d720fb97-b3ed-4a1c-aa2f-e5160664a6b6" providerId="AD" clId="Web-{00000000-0000-0000-0000-000000000000}" dt="2026-10-09T16:39:05.934" v="36" actId="20577"/>
          <ac:spMkLst>
            <pc:docMk/>
            <pc:sldMk cId="0" sldId="257"/>
            <ac:spMk id="6" creationId="{00000000-0000-0000-0000-000000000000}"/>
          </ac:spMkLst>
        </pc:spChg>
        <pc:spChg chg="mod">
          <ac:chgData name="MIRNALITHA V S - [CB.EN.U4ARE25027]" userId="S::cb.en.u4are25027@cb.students.amrita.edu::d720fb97-b3ed-4a1c-aa2f-e5160664a6b6" providerId="AD" clId="Web-{00000000-0000-0000-0000-000000000000}" dt="2026-10-09T17:02:49.547" v="160" actId="20577"/>
          <ac:spMkLst>
            <pc:docMk/>
            <pc:sldMk cId="0" sldId="257"/>
            <ac:spMk id="10" creationId="{00000000-0000-0000-0000-000000000000}"/>
          </ac:spMkLst>
        </pc:spChg>
      </pc:sldChg>
      <pc:sldChg chg="modSp ord">
        <pc:chgData name="MIRNALITHA V S - [CB.EN.U4ARE25027]" userId="S::cb.en.u4are25027@cb.students.amrita.edu::d720fb97-b3ed-4a1c-aa2f-e5160664a6b6" providerId="AD" clId="Web-{00000000-0000-0000-0000-000000000000}" dt="2026-10-09T17:05:39.133" v="171" actId="1076"/>
        <pc:sldMkLst>
          <pc:docMk/>
          <pc:sldMk cId="0" sldId="258"/>
        </pc:sldMkLst>
        <pc:spChg chg="mod">
          <ac:chgData name="MIRNALITHA V S - [CB.EN.U4ARE25027]" userId="S::cb.en.u4are25027@cb.students.amrita.edu::d720fb97-b3ed-4a1c-aa2f-e5160664a6b6" providerId="AD" clId="Web-{00000000-0000-0000-0000-000000000000}" dt="2026-10-09T17:05:24.851" v="168" actId="1076"/>
          <ac:spMkLst>
            <pc:docMk/>
            <pc:sldMk cId="0" sldId="258"/>
            <ac:spMk id="3" creationId="{00000000-0000-0000-0000-000000000000}"/>
          </ac:spMkLst>
        </pc:spChg>
        <pc:spChg chg="mod">
          <ac:chgData name="MIRNALITHA V S - [CB.EN.U4ARE25027]" userId="S::cb.en.u4are25027@cb.students.amrita.edu::d720fb97-b3ed-4a1c-aa2f-e5160664a6b6" providerId="AD" clId="Web-{00000000-0000-0000-0000-000000000000}" dt="2026-10-09T16:39:18.200" v="43" actId="20577"/>
          <ac:spMkLst>
            <pc:docMk/>
            <pc:sldMk cId="0" sldId="258"/>
            <ac:spMk id="6" creationId="{00000000-0000-0000-0000-000000000000}"/>
          </ac:spMkLst>
        </pc:spChg>
        <pc:spChg chg="mod">
          <ac:chgData name="MIRNALITHA V S - [CB.EN.U4ARE25027]" userId="S::cb.en.u4are25027@cb.students.amrita.edu::d720fb97-b3ed-4a1c-aa2f-e5160664a6b6" providerId="AD" clId="Web-{00000000-0000-0000-0000-000000000000}" dt="2026-10-09T17:05:33.961" v="169" actId="1076"/>
          <ac:spMkLst>
            <pc:docMk/>
            <pc:sldMk cId="0" sldId="258"/>
            <ac:spMk id="7" creationId="{00000000-0000-0000-0000-000000000000}"/>
          </ac:spMkLst>
        </pc:spChg>
        <pc:spChg chg="mod">
          <ac:chgData name="MIRNALITHA V S - [CB.EN.U4ARE25027]" userId="S::cb.en.u4are25027@cb.students.amrita.edu::d720fb97-b3ed-4a1c-aa2f-e5160664a6b6" providerId="AD" clId="Web-{00000000-0000-0000-0000-000000000000}" dt="2026-10-09T17:05:39.133" v="171" actId="1076"/>
          <ac:spMkLst>
            <pc:docMk/>
            <pc:sldMk cId="0" sldId="258"/>
            <ac:spMk id="9" creationId="{00000000-0000-0000-0000-000000000000}"/>
          </ac:spMkLst>
        </pc:spChg>
        <pc:spChg chg="mod">
          <ac:chgData name="MIRNALITHA V S - [CB.EN.U4ARE25027]" userId="S::cb.en.u4are25027@cb.students.amrita.edu::d720fb97-b3ed-4a1c-aa2f-e5160664a6b6" providerId="AD" clId="Web-{00000000-0000-0000-0000-000000000000}" dt="2026-10-09T17:05:19.085" v="167" actId="1076"/>
          <ac:spMkLst>
            <pc:docMk/>
            <pc:sldMk cId="0" sldId="258"/>
            <ac:spMk id="10" creationId="{00000000-0000-0000-0000-000000000000}"/>
          </ac:spMkLst>
        </pc:spChg>
        <pc:picChg chg="mod">
          <ac:chgData name="MIRNALITHA V S - [CB.EN.U4ARE25027]" userId="S::cb.en.u4are25027@cb.students.amrita.edu::d720fb97-b3ed-4a1c-aa2f-e5160664a6b6" providerId="AD" clId="Web-{00000000-0000-0000-0000-000000000000}" dt="2026-10-09T17:05:33.961" v="170" actId="1076"/>
          <ac:picMkLst>
            <pc:docMk/>
            <pc:sldMk cId="0" sldId="258"/>
            <ac:picMk id="8" creationId="{00000000-0000-0000-0000-000000000000}"/>
          </ac:picMkLst>
        </pc:picChg>
      </pc:sldChg>
      <pc:sldChg chg="modSp">
        <pc:chgData name="MIRNALITHA V S - [CB.EN.U4ARE25027]" userId="S::cb.en.u4are25027@cb.students.amrita.edu::d720fb97-b3ed-4a1c-aa2f-e5160664a6b6" providerId="AD" clId="Web-{00000000-0000-0000-0000-000000000000}" dt="2026-10-09T17:14:06.110" v="210" actId="14100"/>
        <pc:sldMkLst>
          <pc:docMk/>
          <pc:sldMk cId="0" sldId="259"/>
        </pc:sldMkLst>
        <pc:spChg chg="mod">
          <ac:chgData name="MIRNALITHA V S - [CB.EN.U4ARE25027]" userId="S::cb.en.u4are25027@cb.students.amrita.edu::d720fb97-b3ed-4a1c-aa2f-e5160664a6b6" providerId="AD" clId="Web-{00000000-0000-0000-0000-000000000000}" dt="2026-10-09T16:39:26.669" v="45" actId="20577"/>
          <ac:spMkLst>
            <pc:docMk/>
            <pc:sldMk cId="0" sldId="259"/>
            <ac:spMk id="6" creationId="{00000000-0000-0000-0000-000000000000}"/>
          </ac:spMkLst>
        </pc:spChg>
        <pc:spChg chg="mod">
          <ac:chgData name="MIRNALITHA V S - [CB.EN.U4ARE25027]" userId="S::cb.en.u4are25027@cb.students.amrita.edu::d720fb97-b3ed-4a1c-aa2f-e5160664a6b6" providerId="AD" clId="Web-{00000000-0000-0000-0000-000000000000}" dt="2026-10-09T16:51:51.782" v="102" actId="1076"/>
          <ac:spMkLst>
            <pc:docMk/>
            <pc:sldMk cId="0" sldId="259"/>
            <ac:spMk id="7" creationId="{00000000-0000-0000-0000-000000000000}"/>
          </ac:spMkLst>
        </pc:spChg>
        <pc:spChg chg="mod">
          <ac:chgData name="MIRNALITHA V S - [CB.EN.U4ARE25027]" userId="S::cb.en.u4are25027@cb.students.amrita.edu::d720fb97-b3ed-4a1c-aa2f-e5160664a6b6" providerId="AD" clId="Web-{00000000-0000-0000-0000-000000000000}" dt="2026-10-09T16:51:51.798" v="104" actId="1076"/>
          <ac:spMkLst>
            <pc:docMk/>
            <pc:sldMk cId="0" sldId="259"/>
            <ac:spMk id="9" creationId="{00000000-0000-0000-0000-000000000000}"/>
          </ac:spMkLst>
        </pc:spChg>
        <pc:spChg chg="mod">
          <ac:chgData name="MIRNALITHA V S - [CB.EN.U4ARE25027]" userId="S::cb.en.u4are25027@cb.students.amrita.edu::d720fb97-b3ed-4a1c-aa2f-e5160664a6b6" providerId="AD" clId="Web-{00000000-0000-0000-0000-000000000000}" dt="2026-10-09T17:14:06.110" v="210" actId="14100"/>
          <ac:spMkLst>
            <pc:docMk/>
            <pc:sldMk cId="0" sldId="259"/>
            <ac:spMk id="10" creationId="{00000000-0000-0000-0000-000000000000}"/>
          </ac:spMkLst>
        </pc:spChg>
        <pc:picChg chg="mod">
          <ac:chgData name="MIRNALITHA V S - [CB.EN.U4ARE25027]" userId="S::cb.en.u4are25027@cb.students.amrita.edu::d720fb97-b3ed-4a1c-aa2f-e5160664a6b6" providerId="AD" clId="Web-{00000000-0000-0000-0000-000000000000}" dt="2026-10-09T16:55:16.901" v="113" actId="1076"/>
          <ac:picMkLst>
            <pc:docMk/>
            <pc:sldMk cId="0" sldId="259"/>
            <ac:picMk id="8" creationId="{00000000-0000-0000-0000-000000000000}"/>
          </ac:picMkLst>
        </pc:picChg>
      </pc:sldChg>
      <pc:sldChg chg="modSp">
        <pc:chgData name="MIRNALITHA V S - [CB.EN.U4ARE25027]" userId="S::cb.en.u4are25027@cb.students.amrita.edu::d720fb97-b3ed-4a1c-aa2f-e5160664a6b6" providerId="AD" clId="Web-{00000000-0000-0000-0000-000000000000}" dt="2026-10-09T16:38:32.854" v="23" actId="20577"/>
        <pc:sldMkLst>
          <pc:docMk/>
          <pc:sldMk cId="0" sldId="262"/>
        </pc:sldMkLst>
        <pc:spChg chg="mod">
          <ac:chgData name="MIRNALITHA V S - [CB.EN.U4ARE25027]" userId="S::cb.en.u4are25027@cb.students.amrita.edu::d720fb97-b3ed-4a1c-aa2f-e5160664a6b6" providerId="AD" clId="Web-{00000000-0000-0000-0000-000000000000}" dt="2026-10-09T16:38:32.854" v="23" actId="20577"/>
          <ac:spMkLst>
            <pc:docMk/>
            <pc:sldMk cId="0" sldId="262"/>
            <ac:spMk id="6" creationId="{00000000-0000-0000-0000-000000000000}"/>
          </ac:spMkLst>
        </pc:spChg>
        <pc:spChg chg="mod">
          <ac:chgData name="MIRNALITHA V S - [CB.EN.U4ARE25027]" userId="S::cb.en.u4are25027@cb.students.amrita.edu::d720fb97-b3ed-4a1c-aa2f-e5160664a6b6" providerId="AD" clId="Web-{00000000-0000-0000-0000-000000000000}" dt="2026-10-09T16:35:35.124" v="3" actId="1076"/>
          <ac:spMkLst>
            <pc:docMk/>
            <pc:sldMk cId="0" sldId="262"/>
            <ac:spMk id="10" creationId="{00000000-0000-0000-0000-000000000000}"/>
          </ac:spMkLst>
        </pc:spChg>
        <pc:picChg chg="mod">
          <ac:chgData name="MIRNALITHA V S - [CB.EN.U4ARE25027]" userId="S::cb.en.u4are25027@cb.students.amrita.edu::d720fb97-b3ed-4a1c-aa2f-e5160664a6b6" providerId="AD" clId="Web-{00000000-0000-0000-0000-000000000000}" dt="2026-10-09T16:35:43.203" v="4" actId="1076"/>
          <ac:picMkLst>
            <pc:docMk/>
            <pc:sldMk cId="0" sldId="262"/>
            <ac:picMk id="8" creationId="{00000000-0000-0000-0000-000000000000}"/>
          </ac:picMkLst>
        </pc:picChg>
      </pc:sldChg>
      <pc:sldChg chg="modSp ord">
        <pc:chgData name="MIRNALITHA V S - [CB.EN.U4ARE25027]" userId="S::cb.en.u4are25027@cb.students.amrita.edu::d720fb97-b3ed-4a1c-aa2f-e5160664a6b6" providerId="AD" clId="Web-{00000000-0000-0000-0000-000000000000}" dt="2026-10-09T16:38:48.058" v="30"/>
        <pc:sldMkLst>
          <pc:docMk/>
          <pc:sldMk cId="0" sldId="263"/>
        </pc:sldMkLst>
        <pc:spChg chg="mod">
          <ac:chgData name="MIRNALITHA V S - [CB.EN.U4ARE25027]" userId="S::cb.en.u4are25027@cb.students.amrita.edu::d720fb97-b3ed-4a1c-aa2f-e5160664a6b6" providerId="AD" clId="Web-{00000000-0000-0000-0000-000000000000}" dt="2026-10-09T16:38:45.370" v="29" actId="20577"/>
          <ac:spMkLst>
            <pc:docMk/>
            <pc:sldMk cId="0" sldId="263"/>
            <ac:spMk id="6" creationId="{00000000-0000-0000-0000-000000000000}"/>
          </ac:spMkLst>
        </pc:spChg>
        <pc:spChg chg="mod">
          <ac:chgData name="MIRNALITHA V S - [CB.EN.U4ARE25027]" userId="S::cb.en.u4are25027@cb.students.amrita.edu::d720fb97-b3ed-4a1c-aa2f-e5160664a6b6" providerId="AD" clId="Web-{00000000-0000-0000-0000-000000000000}" dt="2026-10-09T16:38:03.287" v="10" actId="1076"/>
          <ac:spMkLst>
            <pc:docMk/>
            <pc:sldMk cId="0" sldId="263"/>
            <ac:spMk id="7" creationId="{00000000-0000-0000-0000-000000000000}"/>
          </ac:spMkLst>
        </pc:spChg>
        <pc:spChg chg="mod">
          <ac:chgData name="MIRNALITHA V S - [CB.EN.U4ARE25027]" userId="S::cb.en.u4are25027@cb.students.amrita.edu::d720fb97-b3ed-4a1c-aa2f-e5160664a6b6" providerId="AD" clId="Web-{00000000-0000-0000-0000-000000000000}" dt="2026-10-09T16:38:03.318" v="12" actId="1076"/>
          <ac:spMkLst>
            <pc:docMk/>
            <pc:sldMk cId="0" sldId="263"/>
            <ac:spMk id="9" creationId="{00000000-0000-0000-0000-000000000000}"/>
          </ac:spMkLst>
        </pc:spChg>
        <pc:spChg chg="mod">
          <ac:chgData name="MIRNALITHA V S - [CB.EN.U4ARE25027]" userId="S::cb.en.u4are25027@cb.students.amrita.edu::d720fb97-b3ed-4a1c-aa2f-e5160664a6b6" providerId="AD" clId="Web-{00000000-0000-0000-0000-000000000000}" dt="2026-10-09T16:38:03.350" v="13" actId="1076"/>
          <ac:spMkLst>
            <pc:docMk/>
            <pc:sldMk cId="0" sldId="263"/>
            <ac:spMk id="10" creationId="{00000000-0000-0000-0000-000000000000}"/>
          </ac:spMkLst>
        </pc:spChg>
        <pc:picChg chg="mod">
          <ac:chgData name="MIRNALITHA V S - [CB.EN.U4ARE25027]" userId="S::cb.en.u4are25027@cb.students.amrita.edu::d720fb97-b3ed-4a1c-aa2f-e5160664a6b6" providerId="AD" clId="Web-{00000000-0000-0000-0000-000000000000}" dt="2026-10-09T16:38:03.303" v="11" actId="1076"/>
          <ac:picMkLst>
            <pc:docMk/>
            <pc:sldMk cId="0" sldId="263"/>
            <ac:picMk id="8" creationId="{00000000-0000-0000-0000-000000000000}"/>
          </ac:picMkLst>
        </pc:picChg>
      </pc:sldChg>
      <pc:sldChg chg="modSp">
        <pc:chgData name="MIRNALITHA V S - [CB.EN.U4ARE25027]" userId="S::cb.en.u4are25027@cb.students.amrita.edu::d720fb97-b3ed-4a1c-aa2f-e5160664a6b6" providerId="AD" clId="Web-{00000000-0000-0000-0000-000000000000}" dt="2026-10-09T17:14:49.518" v="220"/>
        <pc:sldMkLst>
          <pc:docMk/>
          <pc:sldMk cId="0" sldId="264"/>
        </pc:sldMkLst>
        <pc:graphicFrameChg chg="mod modGraphic">
          <ac:chgData name="MIRNALITHA V S - [CB.EN.U4ARE25027]" userId="S::cb.en.u4are25027@cb.students.amrita.edu::d720fb97-b3ed-4a1c-aa2f-e5160664a6b6" providerId="AD" clId="Web-{00000000-0000-0000-0000-000000000000}" dt="2026-10-09T17:14:49.518" v="220"/>
          <ac:graphicFrameMkLst>
            <pc:docMk/>
            <pc:sldMk cId="0" sldId="264"/>
            <ac:graphicFrameMk id="10"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145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205003"/>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426720" y="443257"/>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318173" y="1922764"/>
            <a:ext cx="6442487" cy="638605"/>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 TEEN TITANS </a:t>
            </a:r>
          </a:p>
          <a:p>
            <a:pPr marL="0" indent="0" algn="ctr">
              <a:buNone/>
            </a:pPr>
            <a:r>
              <a:rPr lang="en-US" sz="1300" b="1" kern="0" spc="300" dirty="0">
                <a:solidFill>
                  <a:schemeClr val="bg1"/>
                </a:solidFill>
              </a:rPr>
              <a:t>DOMAIN 2 : ENERGY,MOBILITY &amp; SMART INFRASTRUCTURE</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endParaRPr lang="en-US" sz="1600" dirty="0">
              <a:solidFill>
                <a:schemeClr val="bg1"/>
              </a:solidFill>
            </a:endParaRPr>
          </a:p>
        </p:txBody>
      </p:sp>
      <p:sp>
        <p:nvSpPr>
          <p:cNvPr id="15" name="Cover Fields"/>
          <p:cNvSpPr txBox="1"/>
          <p:nvPr/>
        </p:nvSpPr>
        <p:spPr>
          <a:xfrm>
            <a:off x="146469" y="3583396"/>
            <a:ext cx="10200999"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500" dirty="0">
                <a:solidFill>
                  <a:schemeClr val="bg1"/>
                </a:solidFill>
              </a:rPr>
              <a:t>Team Name – TEEN TITANS</a:t>
            </a:r>
            <a:endParaRPr lang="en-US" sz="1500" dirty="0"/>
          </a:p>
          <a:p>
            <a:pPr marL="279400" indent="-279400">
              <a:spcAft>
                <a:spcPts val="1400"/>
              </a:spcAft>
              <a:buClr>
                <a:schemeClr val="accent3"/>
              </a:buClr>
              <a:buSzPct val="100000"/>
              <a:buChar char="•"/>
            </a:pPr>
            <a:r>
              <a:rPr lang="en-US" sz="1500" dirty="0">
                <a:solidFill>
                  <a:schemeClr val="bg1"/>
                </a:solidFill>
              </a:rPr>
              <a:t>Team Members – </a:t>
            </a:r>
            <a:r>
              <a:rPr lang="en-US" sz="1500" dirty="0" err="1">
                <a:solidFill>
                  <a:schemeClr val="bg1"/>
                </a:solidFill>
              </a:rPr>
              <a:t>Dharsshini</a:t>
            </a:r>
            <a:r>
              <a:rPr lang="en-US" sz="1500" dirty="0">
                <a:solidFill>
                  <a:schemeClr val="bg1"/>
                </a:solidFill>
              </a:rPr>
              <a:t> B A (CB.EN.U4ARE25013)</a:t>
            </a:r>
            <a:endParaRPr lang="en-US" sz="1500" dirty="0">
              <a:solidFill>
                <a:schemeClr val="bg1"/>
              </a:solidFill>
              <a:ea typeface="Calibri"/>
              <a:cs typeface="Calibri"/>
            </a:endParaRPr>
          </a:p>
          <a:p>
            <a:pPr marL="279400" indent="-279400">
              <a:spcAft>
                <a:spcPts val="1400"/>
              </a:spcAft>
              <a:buClr>
                <a:schemeClr val="accent3"/>
              </a:buClr>
              <a:buSzPct val="100000"/>
              <a:buChar char="•"/>
            </a:pPr>
            <a:r>
              <a:rPr lang="en-US" sz="1500">
                <a:solidFill>
                  <a:schemeClr val="bg1"/>
                </a:solidFill>
              </a:rPr>
              <a:t>                                Dharshan (CB.EN.U4ARE25024)</a:t>
            </a:r>
            <a:endParaRPr lang="en-US" sz="1500">
              <a:solidFill>
                <a:schemeClr val="bg1"/>
              </a:solidFill>
              <a:ea typeface="Calibri"/>
              <a:cs typeface="Calibri"/>
            </a:endParaRPr>
          </a:p>
          <a:p>
            <a:pPr marL="279400" indent="-279400">
              <a:spcAft>
                <a:spcPts val="1400"/>
              </a:spcAft>
              <a:buClr>
                <a:schemeClr val="accent3"/>
              </a:buClr>
              <a:buSzPct val="100000"/>
              <a:buChar char="•"/>
            </a:pPr>
            <a:r>
              <a:rPr lang="en-US" sz="1500" dirty="0">
                <a:solidFill>
                  <a:schemeClr val="bg1"/>
                </a:solidFill>
              </a:rPr>
              <a:t>                                </a:t>
            </a:r>
            <a:r>
              <a:rPr lang="en-US" sz="1500" dirty="0" err="1">
                <a:solidFill>
                  <a:schemeClr val="bg1"/>
                </a:solidFill>
              </a:rPr>
              <a:t>Mirnalitha</a:t>
            </a:r>
            <a:r>
              <a:rPr lang="en-US" sz="1500" dirty="0">
                <a:solidFill>
                  <a:schemeClr val="bg1"/>
                </a:solidFill>
              </a:rPr>
              <a:t> VS (CB.EN.U4ARE25027)</a:t>
            </a:r>
            <a:endParaRPr lang="en-US" sz="1500" dirty="0">
              <a:solidFill>
                <a:schemeClr val="bg1"/>
              </a:solidFill>
              <a:ea typeface="Calibri"/>
              <a:cs typeface="Calibri"/>
            </a:endParaRPr>
          </a:p>
          <a:p>
            <a:pPr marL="279400" indent="-279400">
              <a:spcAft>
                <a:spcPts val="1400"/>
              </a:spcAft>
              <a:buClr>
                <a:schemeClr val="accent3"/>
              </a:buClr>
              <a:buSzPct val="100000"/>
              <a:buChar char="•"/>
            </a:pPr>
            <a:r>
              <a:rPr lang="en-US" sz="1500">
                <a:solidFill>
                  <a:schemeClr val="bg1"/>
                </a:solidFill>
              </a:rPr>
              <a:t>                                Miruthala Mohan (CB.EN.U4ARE25028)</a:t>
            </a:r>
            <a:endParaRPr lang="en-US" sz="1500">
              <a:solidFill>
                <a:schemeClr val="bg1"/>
              </a:solidFill>
              <a:ea typeface="Calibri"/>
              <a:cs typeface="Calibri"/>
            </a:endParaRPr>
          </a:p>
          <a:p>
            <a:pPr marL="279400" indent="-279400">
              <a:spcAft>
                <a:spcPts val="1400"/>
              </a:spcAft>
              <a:buClr>
                <a:schemeClr val="accent3"/>
              </a:buClr>
              <a:buSzPct val="100000"/>
              <a:buChar char="•"/>
            </a:pPr>
            <a:r>
              <a:rPr lang="en-US" sz="1500" dirty="0">
                <a:solidFill>
                  <a:schemeClr val="bg1"/>
                </a:solidFill>
              </a:rPr>
              <a:t>Selected Domain – </a:t>
            </a:r>
            <a:r>
              <a:rPr lang="en-US" sz="1500" b="1" kern="0" spc="300" dirty="0">
                <a:solidFill>
                  <a:schemeClr val="bg1"/>
                </a:solidFill>
              </a:rPr>
              <a:t>ENERGY,MOBILITY &amp; SMART INFRASTRUCTURE</a:t>
            </a:r>
            <a:endParaRPr lang="en-US" sz="1500" dirty="0"/>
          </a:p>
          <a:p>
            <a:pPr marL="279400" indent="-279400">
              <a:spcAft>
                <a:spcPts val="1400"/>
              </a:spcAft>
              <a:buClr>
                <a:schemeClr val="accent3"/>
              </a:buClr>
              <a:buSzPct val="100000"/>
              <a:buChar char="•"/>
            </a:pPr>
            <a:r>
              <a:rPr lang="en-US" sz="1500" dirty="0">
                <a:solidFill>
                  <a:schemeClr val="bg1"/>
                </a:solidFill>
              </a:rPr>
              <a:t>Problem Statement – </a:t>
            </a:r>
            <a:r>
              <a:rPr lang="en-IN" sz="1500" dirty="0">
                <a:solidFill>
                  <a:schemeClr val="bg1"/>
                </a:solidFill>
              </a:rPr>
              <a:t>Sustainable use of electricity is a common problem faced by people. They are not aware of how much power they really consume and whether they are using electricity wisely.</a:t>
            </a:r>
            <a:endParaRPr lang="en-US" sz="1500" dirty="0">
              <a:solidFill>
                <a:schemeClr val="bg1"/>
              </a:solidFill>
            </a:endParaRPr>
          </a:p>
        </p:txBody>
      </p:sp>
      <p:sp>
        <p:nvSpPr>
          <p:cNvPr id="16" name="TextBox 15">
            <a:extLst>
              <a:ext uri="{FF2B5EF4-FFF2-40B4-BE49-F238E27FC236}">
                <a16:creationId xmlns:a16="http://schemas.microsoft.com/office/drawing/2014/main" id="{400C7BF8-81FF-F599-735B-D0185E749545}"/>
              </a:ext>
            </a:extLst>
          </p:cNvPr>
          <p:cNvSpPr txBox="1"/>
          <p:nvPr/>
        </p:nvSpPr>
        <p:spPr>
          <a:xfrm>
            <a:off x="345811" y="2703104"/>
            <a:ext cx="6105243" cy="784830"/>
          </a:xfrm>
          <a:prstGeom prst="rect">
            <a:avLst/>
          </a:prstGeom>
          <a:noFill/>
        </p:spPr>
        <p:txBody>
          <a:bodyPr wrap="square" rtlCol="0">
            <a:spAutoFit/>
          </a:bodyPr>
          <a:lstStyle/>
          <a:p>
            <a:r>
              <a:rPr lang="en-IN" sz="1500" dirty="0">
                <a:solidFill>
                  <a:schemeClr val="bg1"/>
                </a:solidFill>
              </a:rPr>
              <a:t>We as a team have developed a project in the domain 2 which focuses on sustainable and responsible usage of electricity by monitoring its usage on a daily basis.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ea typeface="Calibri"/>
                <a:cs typeface="Calibri"/>
              </a:rPr>
              <a:t>TEENN TITANS</a:t>
            </a:r>
            <a:endParaRPr lang="en-US" sz="1500" b="1" dirty="0">
              <a:solidFill>
                <a:schemeClr val="accent1"/>
              </a:solidFill>
              <a:ea typeface="Calibri"/>
              <a:cs typeface="Calibri"/>
            </a:endParaRP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909320" y="2148840"/>
            <a:ext cx="10353040" cy="3169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a:t>What exactly needs to be solved?</a:t>
            </a:r>
            <a:endParaRPr lang="en-US" b="1">
              <a:ea typeface="+mn-lt"/>
              <a:cs typeface="+mn-lt"/>
            </a:endParaRPr>
          </a:p>
          <a:p>
            <a:pPr>
              <a:spcAft>
                <a:spcPts val="1000"/>
              </a:spcAft>
              <a:buClr>
                <a:schemeClr val="accent1"/>
              </a:buClr>
              <a:buSzPct val="100000"/>
            </a:pPr>
            <a:r>
              <a:rPr lang="en-US" dirty="0">
                <a:ea typeface="+mn-lt"/>
                <a:cs typeface="+mn-lt"/>
              </a:rPr>
              <a:t>People use electricity every day but have almost no real awareness of how much power they actually consume, which appliances or rooms are responsible for high usage, or whether they are using electricity wisely. Most users only discover the problem when they receive a high bill at the end of the month.</a:t>
            </a:r>
            <a:endParaRPr lang="en-US" dirty="0">
              <a:ea typeface="Calibri"/>
              <a:cs typeface="Calibri"/>
            </a:endParaRPr>
          </a:p>
          <a:p>
            <a:pPr marL="279400" indent="-279400">
              <a:spcAft>
                <a:spcPts val="1000"/>
              </a:spcAft>
              <a:buClr>
                <a:schemeClr val="accent1"/>
              </a:buClr>
              <a:buSzPct val="100000"/>
              <a:buChar char="•"/>
            </a:pPr>
            <a:r>
              <a:rPr lang="en-US" sz="1800" b="1" dirty="0"/>
              <a:t>Why is it important right now?</a:t>
            </a:r>
            <a:endParaRPr lang="en-US" sz="1800" b="1" dirty="0">
              <a:ea typeface="Calibri"/>
              <a:cs typeface="Calibri"/>
            </a:endParaRPr>
          </a:p>
          <a:p>
            <a:pPr>
              <a:spcAft>
                <a:spcPts val="1000"/>
              </a:spcAft>
              <a:buClr>
                <a:schemeClr val="accent1"/>
              </a:buClr>
              <a:buSzPct val="100000"/>
            </a:pPr>
            <a:r>
              <a:rPr lang="en-US" dirty="0">
                <a:ea typeface="+mn-lt"/>
                <a:cs typeface="+mn-lt"/>
              </a:rPr>
              <a:t>Electricity is becoming more expensive every year and energy wastage is both a financial burden and an environmental issue. Without daily visibility, real-time alerts, and clear insights, people continue to waste electricity unknowingly. The core problem is the complete lack of awareness and control between consumption and the final bill.</a:t>
            </a:r>
          </a:p>
          <a:p>
            <a:pPr marL="279400" indent="-279400">
              <a:spcAft>
                <a:spcPts val="1000"/>
              </a:spcAft>
              <a:buClr>
                <a:schemeClr val="accent1"/>
              </a:buClr>
              <a:buSzPct val="100000"/>
              <a:buChar char="•"/>
            </a:pPr>
            <a:endParaRPr lang="en-US" b="1"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ea typeface="Calibri"/>
                <a:cs typeface="Calibri"/>
              </a:rPr>
              <a:t>TEEN TITANS</a:t>
            </a:r>
            <a:endParaRPr lang="en-US" sz="1500" b="1" dirty="0">
              <a:solidFill>
                <a:schemeClr val="accent1"/>
              </a:solidFill>
              <a:ea typeface="Calibri"/>
              <a:cs typeface="Calibri"/>
            </a:endParaRPr>
          </a:p>
        </p:txBody>
      </p:sp>
      <p:sp>
        <p:nvSpPr>
          <p:cNvPr id="7" name="Lead Icon Hex"/>
          <p:cNvSpPr/>
          <p:nvPr/>
        </p:nvSpPr>
        <p:spPr>
          <a:xfrm>
            <a:off x="548640" y="121920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50240" y="1249070"/>
            <a:ext cx="274320" cy="274320"/>
          </a:xfrm>
          <a:prstGeom prst="rect">
            <a:avLst/>
          </a:prstGeom>
        </p:spPr>
      </p:pic>
      <p:sp>
        <p:nvSpPr>
          <p:cNvPr id="9" name="Lead Text"/>
          <p:cNvSpPr txBox="1"/>
          <p:nvPr/>
        </p:nvSpPr>
        <p:spPr>
          <a:xfrm>
            <a:off x="1170432" y="117348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777240" y="1366520"/>
            <a:ext cx="10363200" cy="5222240"/>
          </a:xfrm>
          <a:prstGeom prst="rect">
            <a:avLst/>
          </a:prstGeom>
          <a:noFill/>
          <a:ln/>
        </p:spPr>
        <p:txBody>
          <a:bodyPr wrap="square" lIns="0" tIns="0" rIns="0" bIns="0" rtlCol="0" anchor="t"/>
          <a:lstStyle/>
          <a:p>
            <a:pPr>
              <a:spcAft>
                <a:spcPts val="1000"/>
              </a:spcAft>
              <a:buClr>
                <a:schemeClr val="accent1"/>
              </a:buClr>
              <a:buSzPct val="100000"/>
            </a:pPr>
            <a:endParaRPr lang="en-US" b="1" dirty="0"/>
          </a:p>
          <a:p>
            <a:pPr>
              <a:spcAft>
                <a:spcPts val="1000"/>
              </a:spcAft>
            </a:pPr>
            <a:r>
              <a:rPr lang="en-US" b="1"/>
              <a:t>Existing scenario and background</a:t>
            </a:r>
            <a:endParaRPr lang="en-US" sz="1800" b="1">
              <a:ea typeface="Calibri"/>
              <a:cs typeface="Calibri"/>
            </a:endParaRPr>
          </a:p>
          <a:p>
            <a:pPr>
              <a:buClr>
                <a:schemeClr val="accent1"/>
              </a:buClr>
              <a:buSzPct val="100000"/>
            </a:pPr>
            <a:r>
              <a:rPr lang="en-US">
                <a:ea typeface="+mn-lt"/>
                <a:cs typeface="+mn-lt"/>
              </a:rPr>
              <a:t>Electricity is consumed daily, but users often lack clear visibility into where it is being used.</a:t>
            </a:r>
            <a:endParaRPr lang="en-US" dirty="0">
              <a:ea typeface="Calibri"/>
              <a:cs typeface="Calibri"/>
            </a:endParaRPr>
          </a:p>
          <a:p>
            <a:pPr>
              <a:buClr>
                <a:schemeClr val="accent1"/>
              </a:buClr>
              <a:buSzPct val="100000"/>
            </a:pPr>
            <a:r>
              <a:rPr lang="en-US">
                <a:ea typeface="+mn-lt"/>
                <a:cs typeface="+mn-lt"/>
              </a:rPr>
              <a:t>Traditional meters mainly show total consumption, making appliance-wise analysis difficult.</a:t>
            </a:r>
            <a:endParaRPr lang="en-US">
              <a:ea typeface="Calibri"/>
              <a:cs typeface="Calibri"/>
            </a:endParaRPr>
          </a:p>
          <a:p>
            <a:endParaRPr lang="en-US" dirty="0"/>
          </a:p>
          <a:p>
            <a:pPr>
              <a:spcAft>
                <a:spcPts val="1000"/>
              </a:spcAft>
              <a:buClr>
                <a:schemeClr val="accent1"/>
              </a:buClr>
              <a:buSzPct val="100000"/>
            </a:pPr>
            <a:r>
              <a:rPr lang="en-US" b="1"/>
              <a:t>Relevant</a:t>
            </a:r>
            <a:r>
              <a:rPr lang="en-US" sz="1800" b="1"/>
              <a:t> data or facts (if available)</a:t>
            </a:r>
            <a:endParaRPr lang="en-US" sz="1800" b="1">
              <a:ea typeface="Calibri"/>
              <a:cs typeface="Calibri"/>
            </a:endParaRPr>
          </a:p>
          <a:p>
            <a:r>
              <a:rPr lang="en-US">
                <a:ea typeface="+mn-lt"/>
                <a:cs typeface="+mn-lt"/>
              </a:rPr>
              <a:t>Consumption varies with appliance usage and operating hours.</a:t>
            </a:r>
            <a:endParaRPr lang="en-US"/>
          </a:p>
          <a:p>
            <a:r>
              <a:rPr lang="en-US">
                <a:ea typeface="+mn-lt"/>
                <a:cs typeface="+mn-lt"/>
              </a:rPr>
              <a:t>High usage and avoidable wastage can go unnoticed until the electricity bill arrives.</a:t>
            </a:r>
            <a:endParaRPr lang="en-US"/>
          </a:p>
          <a:p>
            <a:endParaRPr lang="en-US" dirty="0"/>
          </a:p>
          <a:p>
            <a:pPr>
              <a:spcAft>
                <a:spcPts val="1000"/>
              </a:spcAft>
              <a:buClr>
                <a:schemeClr val="accent1"/>
              </a:buClr>
              <a:buSzPct val="100000"/>
            </a:pPr>
            <a:r>
              <a:rPr lang="en-US" sz="1800" b="1"/>
              <a:t>Current workflow, step by step</a:t>
            </a:r>
            <a:endParaRPr lang="en-US" sz="1800" b="1">
              <a:ea typeface="Calibri"/>
              <a:cs typeface="Calibri"/>
            </a:endParaRPr>
          </a:p>
          <a:p>
            <a:r>
              <a:rPr lang="en-US">
                <a:ea typeface="+mn-lt"/>
                <a:cs typeface="+mn-lt"/>
              </a:rPr>
              <a:t>1.Electricity is consumed by appliances.</a:t>
            </a:r>
          </a:p>
          <a:p>
            <a:r>
              <a:rPr lang="en-US">
                <a:ea typeface="+mn-lt"/>
                <a:cs typeface="+mn-lt"/>
              </a:rPr>
              <a:t>2.The meter records total consumption.</a:t>
            </a:r>
            <a:endParaRPr lang="en-US"/>
          </a:p>
          <a:p>
            <a:r>
              <a:rPr lang="en-US">
                <a:ea typeface="+mn-lt"/>
                <a:cs typeface="+mn-lt"/>
              </a:rPr>
              <a:t>3.The monthly bill reveals the cost.</a:t>
            </a:r>
            <a:endParaRPr lang="en-US"/>
          </a:p>
          <a:p>
            <a:r>
              <a:rPr lang="en-US">
                <a:ea typeface="+mn-lt"/>
                <a:cs typeface="+mn-lt"/>
              </a:rPr>
              <a:t>4.Users struggle to identify the main sources of high usage.</a:t>
            </a:r>
            <a:endParaRPr lang="en-US"/>
          </a:p>
          <a:p>
            <a:r>
              <a:rPr lang="en-US">
                <a:ea typeface="+mn-lt"/>
                <a:cs typeface="+mn-lt"/>
              </a:rPr>
              <a:t>5Changes are made without detailed consumption insight</a:t>
            </a:r>
            <a:endParaRPr lang="en-US"/>
          </a:p>
          <a:p>
            <a:pPr marL="279400" indent="-279400">
              <a:spcAft>
                <a:spcPts val="1000"/>
              </a:spcAft>
              <a:buClr>
                <a:schemeClr val="accent1"/>
              </a:buClr>
              <a:buSzPct val="100000"/>
              <a:buChar char="•"/>
            </a:pPr>
            <a:endParaRPr lang="en-US"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59944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rPr>
              <a:t>TEEN TITANS</a:t>
            </a:r>
            <a:endParaRPr lang="en-US" sz="1500" b="1">
              <a:solidFill>
                <a:schemeClr val="accent1"/>
              </a:solidFill>
              <a:ea typeface="Calibri"/>
              <a:cs typeface="Calibri"/>
            </a:endParaRPr>
          </a:p>
        </p:txBody>
      </p:sp>
      <p:sp>
        <p:nvSpPr>
          <p:cNvPr id="7" name="Lead Icon Hex"/>
          <p:cNvSpPr/>
          <p:nvPr/>
        </p:nvSpPr>
        <p:spPr>
          <a:xfrm>
            <a:off x="406400" y="118872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497840" y="1249070"/>
            <a:ext cx="274320" cy="274320"/>
          </a:xfrm>
          <a:prstGeom prst="rect">
            <a:avLst/>
          </a:prstGeom>
        </p:spPr>
      </p:pic>
      <p:sp>
        <p:nvSpPr>
          <p:cNvPr id="9" name="Lead Text"/>
          <p:cNvSpPr txBox="1"/>
          <p:nvPr/>
        </p:nvSpPr>
        <p:spPr>
          <a:xfrm>
            <a:off x="865632" y="113284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746760" y="1701800"/>
            <a:ext cx="11176000" cy="4917440"/>
          </a:xfrm>
          <a:prstGeom prst="rect">
            <a:avLst/>
          </a:prstGeom>
          <a:noFill/>
          <a:ln/>
        </p:spPr>
        <p:txBody>
          <a:bodyPr wrap="square" lIns="0" tIns="0" rIns="0" bIns="0" rtlCol="0" anchor="t"/>
          <a:lstStyle/>
          <a:p>
            <a:pPr>
              <a:spcAft>
                <a:spcPts val="1000"/>
              </a:spcAft>
              <a:buClr>
                <a:schemeClr val="accent1"/>
              </a:buClr>
              <a:buSzPct val="100000"/>
            </a:pPr>
            <a:r>
              <a:rPr lang="en-US" sz="1600" b="1" dirty="0"/>
              <a:t>1.Primary users / target group</a:t>
            </a:r>
            <a:endParaRPr lang="en-US" sz="1600" b="1" dirty="0">
              <a:ea typeface="Calibri"/>
              <a:cs typeface="Calibri"/>
            </a:endParaRPr>
          </a:p>
          <a:p>
            <a:pPr>
              <a:buClr>
                <a:schemeClr val="accent1"/>
              </a:buClr>
              <a:buSzPct val="100000"/>
              <a:buFont typeface="Arial"/>
              <a:buChar char="•"/>
            </a:pPr>
            <a:r>
              <a:rPr lang="en-US" sz="1600" b="1">
                <a:ea typeface="+mn-lt"/>
                <a:cs typeface="+mn-lt"/>
              </a:rPr>
              <a:t>Hostel wardens and facility managers:</a:t>
            </a:r>
            <a:r>
              <a:rPr lang="en-US" sz="1600">
                <a:ea typeface="+mn-lt"/>
                <a:cs typeface="+mn-lt"/>
              </a:rPr>
              <a:t> Need to identify rooms with unusually high electricity consumption and manage electricity expenses.</a:t>
            </a:r>
            <a:endParaRPr lang="en-US" sz="1600" dirty="0">
              <a:ea typeface="Calibri"/>
              <a:cs typeface="Calibri"/>
            </a:endParaRPr>
          </a:p>
          <a:p>
            <a:pPr>
              <a:buFont typeface="Arial"/>
              <a:buChar char="•"/>
            </a:pPr>
            <a:r>
              <a:rPr lang="en-US" sz="1600" b="1">
                <a:ea typeface="+mn-lt"/>
                <a:cs typeface="+mn-lt"/>
              </a:rPr>
              <a:t>Households and individual consumers:</a:t>
            </a:r>
            <a:r>
              <a:rPr lang="en-US" sz="1600">
                <a:ea typeface="+mn-lt"/>
                <a:cs typeface="+mn-lt"/>
              </a:rPr>
              <a:t> Need to understand appliance-wise consumption and control their monthly electricity budget.</a:t>
            </a:r>
            <a:endParaRPr lang="en-US" sz="1600" dirty="0">
              <a:ea typeface="Calibri"/>
              <a:cs typeface="Calibri"/>
            </a:endParaRPr>
          </a:p>
          <a:p>
            <a:pPr>
              <a:buFont typeface="Arial"/>
              <a:buChar char="•"/>
            </a:pPr>
            <a:endParaRPr lang="en-US" sz="1600" b="1" dirty="0">
              <a:ea typeface="Calibri"/>
              <a:cs typeface="Calibri"/>
            </a:endParaRPr>
          </a:p>
          <a:p>
            <a:pPr>
              <a:spcAft>
                <a:spcPts val="1000"/>
              </a:spcAft>
              <a:buClr>
                <a:schemeClr val="accent1"/>
              </a:buClr>
              <a:buSzPct val="100000"/>
            </a:pPr>
            <a:r>
              <a:rPr lang="en-US" sz="1600" b="1"/>
              <a:t>2.Secondary stakeholders</a:t>
            </a:r>
            <a:endParaRPr lang="en-US" sz="1600" b="1" dirty="0">
              <a:ea typeface="Calibri"/>
              <a:cs typeface="Calibri"/>
            </a:endParaRPr>
          </a:p>
          <a:p>
            <a:pPr>
              <a:buClr>
                <a:schemeClr val="accent1"/>
              </a:buClr>
              <a:buSzPct val="100000"/>
              <a:buFont typeface="Arial"/>
              <a:buChar char="•"/>
            </a:pPr>
            <a:r>
              <a:rPr lang="en-US" sz="1600">
                <a:ea typeface="+mn-lt"/>
                <a:cs typeface="+mn-lt"/>
              </a:rPr>
              <a:t>Students and hostel residents.</a:t>
            </a:r>
            <a:endParaRPr lang="en-US" sz="1600" dirty="0">
              <a:ea typeface="Calibri"/>
              <a:cs typeface="Calibri"/>
            </a:endParaRPr>
          </a:p>
          <a:p>
            <a:pPr>
              <a:buFont typeface="Arial"/>
              <a:buChar char="•"/>
            </a:pPr>
            <a:r>
              <a:rPr lang="en-US" sz="1600">
                <a:ea typeface="+mn-lt"/>
                <a:cs typeface="+mn-lt"/>
              </a:rPr>
              <a:t>Apartment residents and property managers.</a:t>
            </a:r>
            <a:endParaRPr lang="en-US" sz="1600" dirty="0">
              <a:ea typeface="Calibri"/>
              <a:cs typeface="Calibri"/>
            </a:endParaRPr>
          </a:p>
          <a:p>
            <a:pPr>
              <a:buFont typeface="Arial"/>
              <a:buChar char="•"/>
            </a:pPr>
            <a:r>
              <a:rPr lang="en-US" sz="1600">
                <a:ea typeface="+mn-lt"/>
                <a:cs typeface="+mn-lt"/>
              </a:rPr>
              <a:t>Small offices and commercial building owners.</a:t>
            </a:r>
            <a:endParaRPr lang="en-US" sz="1600" dirty="0">
              <a:ea typeface="Calibri"/>
              <a:cs typeface="Calibri"/>
            </a:endParaRPr>
          </a:p>
          <a:p>
            <a:pPr>
              <a:buFont typeface="Arial"/>
              <a:buChar char="•"/>
            </a:pPr>
            <a:r>
              <a:rPr lang="en-US" sz="1600">
                <a:ea typeface="+mn-lt"/>
                <a:cs typeface="+mn-lt"/>
              </a:rPr>
              <a:t>Electricity service providers and sustainability-focused institutions.</a:t>
            </a:r>
            <a:endParaRPr lang="en-US" sz="1600" dirty="0">
              <a:ea typeface="Calibri"/>
              <a:cs typeface="Calibri"/>
            </a:endParaRPr>
          </a:p>
          <a:p>
            <a:pPr>
              <a:buFont typeface="Arial"/>
              <a:buChar char="•"/>
            </a:pPr>
            <a:endParaRPr lang="en-US" sz="1600" b="1" dirty="0">
              <a:ea typeface="Calibri"/>
              <a:cs typeface="Calibri"/>
            </a:endParaRPr>
          </a:p>
          <a:p>
            <a:pPr>
              <a:spcAft>
                <a:spcPts val="1000"/>
              </a:spcAft>
              <a:buClr>
                <a:schemeClr val="accent1"/>
              </a:buClr>
              <a:buSzPct val="100000"/>
            </a:pPr>
            <a:r>
              <a:rPr lang="en-US" sz="1600" b="1"/>
              <a:t>3.Who benefits if the problem is solved?</a:t>
            </a:r>
            <a:endParaRPr lang="en-US" sz="1600" b="1" dirty="0">
              <a:ea typeface="Calibri"/>
              <a:cs typeface="Calibri"/>
            </a:endParaRPr>
          </a:p>
          <a:p>
            <a:pPr>
              <a:buClr>
                <a:schemeClr val="accent1"/>
              </a:buClr>
              <a:buSzPct val="100000"/>
              <a:buFont typeface="Arial"/>
              <a:buChar char="•"/>
            </a:pPr>
            <a:r>
              <a:rPr lang="en-US" sz="1600">
                <a:ea typeface="+mn-lt"/>
                <a:cs typeface="+mn-lt"/>
              </a:rPr>
              <a:t>Consumers gain better visibility and control over electricity usage.</a:t>
            </a:r>
            <a:endParaRPr lang="en-US" sz="1600" dirty="0">
              <a:ea typeface="Calibri"/>
              <a:cs typeface="Calibri"/>
            </a:endParaRPr>
          </a:p>
          <a:p>
            <a:pPr>
              <a:buFont typeface="Arial"/>
              <a:buChar char="•"/>
            </a:pPr>
            <a:r>
              <a:rPr lang="en-US" sz="1600">
                <a:ea typeface="+mn-lt"/>
                <a:cs typeface="+mn-lt"/>
              </a:rPr>
              <a:t>Wardens and facility managers can identify high-consuming rooms.</a:t>
            </a:r>
            <a:endParaRPr lang="en-US" sz="1600" dirty="0">
              <a:ea typeface="Calibri"/>
              <a:cs typeface="Calibri"/>
            </a:endParaRPr>
          </a:p>
          <a:p>
            <a:pPr>
              <a:buFont typeface="Arial"/>
              <a:buChar char="•"/>
            </a:pPr>
            <a:r>
              <a:rPr lang="en-US" sz="1600">
                <a:ea typeface="+mn-lt"/>
                <a:cs typeface="+mn-lt"/>
              </a:rPr>
              <a:t>Institutions can make informed decisions to reduce avoidable energy consumption.</a:t>
            </a:r>
            <a:endParaRPr lang="en-US" sz="1600" dirty="0">
              <a:ea typeface="Calibri"/>
              <a:cs typeface="Calibri"/>
            </a:endParaRPr>
          </a:p>
          <a:p>
            <a:pPr>
              <a:buFont typeface="Arial"/>
              <a:buChar char="•"/>
            </a:pPr>
            <a:r>
              <a:rPr lang="en-US" sz="1600">
                <a:ea typeface="+mn-lt"/>
                <a:cs typeface="+mn-lt"/>
              </a:rPr>
              <a:t>The environment benefits when unnecessary electricity use is reduced.</a:t>
            </a:r>
            <a:endParaRPr lang="en-US" sz="1600" dirty="0">
              <a:ea typeface="Calibri"/>
              <a:cs typeface="Calibri"/>
            </a:endParaRPr>
          </a:p>
          <a:p>
            <a:pPr marL="279400" indent="-279400">
              <a:spcAft>
                <a:spcPts val="1000"/>
              </a:spcAft>
              <a:buClr>
                <a:schemeClr val="accent1"/>
              </a:buClr>
              <a:buSzPct val="100000"/>
              <a:buChar char="•"/>
            </a:pPr>
            <a:endParaRPr lang="en-US" sz="160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80744"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TEEN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83920" y="1919325"/>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Main difficulties and bottlenecks</a:t>
            </a:r>
          </a:p>
          <a:p>
            <a:pPr marL="285750" indent="-285750">
              <a:spcAft>
                <a:spcPts val="1000"/>
              </a:spcAft>
              <a:buClr>
                <a:schemeClr val="accent1"/>
              </a:buClr>
              <a:buSzPct val="100000"/>
              <a:buFont typeface="Wingdings" panose="05000000000000000000" pitchFamily="2" charset="2"/>
              <a:buChar char="Ø"/>
            </a:pPr>
            <a:r>
              <a:rPr lang="en-US" sz="1800" dirty="0"/>
              <a:t>People are unaware of how much electricity they actually consume on a daily basis</a:t>
            </a:r>
          </a:p>
          <a:p>
            <a:pPr marL="285750" indent="-285750">
              <a:spcAft>
                <a:spcPts val="1000"/>
              </a:spcAft>
              <a:buClr>
                <a:schemeClr val="accent1"/>
              </a:buClr>
              <a:buSzPct val="100000"/>
              <a:buFont typeface="Wingdings" panose="05000000000000000000" pitchFamily="2" charset="2"/>
              <a:buChar char="Ø"/>
            </a:pPr>
            <a:r>
              <a:rPr lang="en-US" dirty="0"/>
              <a:t>People cannot identify in which specific area (room/appliance) they are consuming more electricity</a:t>
            </a:r>
          </a:p>
          <a:p>
            <a:pPr marL="285750" indent="-285750">
              <a:spcAft>
                <a:spcPts val="1000"/>
              </a:spcAft>
              <a:buClr>
                <a:schemeClr val="accent1"/>
              </a:buClr>
              <a:buSzPct val="100000"/>
              <a:buFont typeface="Wingdings" panose="05000000000000000000" pitchFamily="2" charset="2"/>
              <a:buChar char="Ø"/>
            </a:pPr>
            <a:r>
              <a:rPr lang="en-US" sz="1800" dirty="0"/>
              <a:t>Electricity bills </a:t>
            </a:r>
            <a:r>
              <a:rPr lang="en-US" dirty="0"/>
              <a:t>show them the total amount but not their usage patterns for improved sustainable </a:t>
            </a:r>
            <a:r>
              <a:rPr lang="en-US" dirty="0" err="1"/>
              <a:t>uasage</a:t>
            </a:r>
            <a:r>
              <a:rPr lang="en-US" dirty="0"/>
              <a:t>.</a:t>
            </a:r>
            <a:endParaRPr lang="en-US" sz="1800" dirty="0"/>
          </a:p>
          <a:p>
            <a:pPr marL="279400" indent="-279400">
              <a:spcAft>
                <a:spcPts val="1000"/>
              </a:spcAft>
              <a:buClr>
                <a:schemeClr val="accent1"/>
              </a:buClr>
              <a:buSzPct val="100000"/>
              <a:buChar char="•"/>
            </a:pPr>
            <a:r>
              <a:rPr lang="en-US" sz="1800" dirty="0">
                <a:solidFill>
                  <a:schemeClr val="tx1"/>
                </a:solidFill>
              </a:rPr>
              <a:t>Root causes behind them</a:t>
            </a:r>
          </a:p>
          <a:p>
            <a:pPr marL="285750" indent="-285750">
              <a:spcAft>
                <a:spcPts val="1000"/>
              </a:spcAft>
              <a:buClr>
                <a:schemeClr val="accent1"/>
              </a:buClr>
              <a:buSzPct val="100000"/>
              <a:buFont typeface="Wingdings" panose="05000000000000000000" pitchFamily="2" charset="2"/>
              <a:buChar char="Ø"/>
            </a:pPr>
            <a:r>
              <a:rPr lang="en-US" dirty="0"/>
              <a:t>Lack of a proper electricity monitoring system</a:t>
            </a:r>
          </a:p>
          <a:p>
            <a:pPr marL="285750" indent="-285750">
              <a:spcAft>
                <a:spcPts val="1000"/>
              </a:spcAft>
              <a:buClr>
                <a:schemeClr val="accent1"/>
              </a:buClr>
              <a:buSzPct val="100000"/>
              <a:buFont typeface="Wingdings" panose="05000000000000000000" pitchFamily="2" charset="2"/>
              <a:buChar char="Ø"/>
            </a:pPr>
            <a:r>
              <a:rPr lang="en-US" dirty="0"/>
              <a:t>Lack of awareness on energy-saving practices and methods</a:t>
            </a:r>
          </a:p>
          <a:p>
            <a:pPr marL="285750" indent="-285750">
              <a:spcAft>
                <a:spcPts val="1000"/>
              </a:spcAft>
              <a:buClr>
                <a:schemeClr val="accent1"/>
              </a:buClr>
              <a:buSzPct val="100000"/>
              <a:buFont typeface="Wingdings" panose="05000000000000000000" pitchFamily="2" charset="2"/>
              <a:buChar char="Ø"/>
            </a:pPr>
            <a:r>
              <a:rPr lang="en-US" sz="1800" dirty="0"/>
              <a:t>Lack of personalized recommendations based on their electricity usage pattern</a:t>
            </a:r>
          </a:p>
          <a:p>
            <a:pPr marL="279400" indent="-279400">
              <a:spcAft>
                <a:spcPts val="1000"/>
              </a:spcAft>
              <a:buClr>
                <a:schemeClr val="accent1"/>
              </a:buClr>
              <a:buSzPct val="100000"/>
              <a:buChar char="•"/>
            </a:pPr>
            <a:r>
              <a:rPr lang="en-US" sz="1800" dirty="0">
                <a:solidFill>
                  <a:schemeClr val="tx1"/>
                </a:solidFill>
              </a:rPr>
              <a:t>Consequences of leaving them unsolved</a:t>
            </a:r>
          </a:p>
          <a:p>
            <a:pPr marL="285750" indent="-285750">
              <a:spcAft>
                <a:spcPts val="1000"/>
              </a:spcAft>
              <a:buClr>
                <a:schemeClr val="accent1"/>
              </a:buClr>
              <a:buSzPct val="100000"/>
              <a:buFont typeface="Wingdings" panose="05000000000000000000" pitchFamily="2" charset="2"/>
              <a:buChar char="Ø"/>
            </a:pPr>
            <a:r>
              <a:rPr lang="en-US" dirty="0"/>
              <a:t>Continued wastage and inefficient usage of electricity </a:t>
            </a:r>
          </a:p>
          <a:p>
            <a:pPr marL="285750" indent="-285750">
              <a:spcAft>
                <a:spcPts val="1000"/>
              </a:spcAft>
              <a:buClr>
                <a:schemeClr val="accent1"/>
              </a:buClr>
              <a:buSzPct val="100000"/>
              <a:buFont typeface="Wingdings" panose="05000000000000000000" pitchFamily="2" charset="2"/>
              <a:buChar char="Ø"/>
            </a:pPr>
            <a:r>
              <a:rPr lang="en-US" dirty="0"/>
              <a:t>Negative environmental impacts due to unnecessary energy consumption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80744"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TEEN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p>
          <a:p>
            <a:pPr marL="285750" indent="-285750">
              <a:spcAft>
                <a:spcPts val="1000"/>
              </a:spcAft>
              <a:buClr>
                <a:schemeClr val="accent1"/>
              </a:buClr>
              <a:buSzPct val="100000"/>
              <a:buFont typeface="Wingdings" panose="05000000000000000000" pitchFamily="2" charset="2"/>
              <a:buChar char="Ø"/>
            </a:pPr>
            <a:r>
              <a:rPr lang="en-US" dirty="0"/>
              <a:t>Traditional Electricity Meters : The total electricity consumption is displayed in units </a:t>
            </a:r>
          </a:p>
          <a:p>
            <a:pPr marL="285750" indent="-285750">
              <a:spcAft>
                <a:spcPts val="1000"/>
              </a:spcAft>
              <a:buClr>
                <a:schemeClr val="accent1"/>
              </a:buClr>
              <a:buSzPct val="100000"/>
              <a:buFont typeface="Wingdings" panose="05000000000000000000" pitchFamily="2" charset="2"/>
              <a:buChar char="Ø"/>
            </a:pPr>
            <a:r>
              <a:rPr lang="en-US" sz="1800" dirty="0"/>
              <a:t>Manual Usage Tracking : People assume the electricity consumed by specific appliances based on the operating hours and rated power.</a:t>
            </a:r>
          </a:p>
          <a:p>
            <a:pPr marL="279400" indent="-279400">
              <a:spcAft>
                <a:spcPts val="1000"/>
              </a:spcAft>
              <a:buClr>
                <a:schemeClr val="accent1"/>
              </a:buClr>
              <a:buSzPct val="100000"/>
              <a:buChar char="•"/>
            </a:pPr>
            <a:r>
              <a:rPr lang="en-US" sz="1800" dirty="0">
                <a:solidFill>
                  <a:schemeClr val="tx1"/>
                </a:solidFill>
              </a:rPr>
              <a:t>Limitations of each</a:t>
            </a:r>
          </a:p>
          <a:p>
            <a:pPr marL="285750" indent="-285750">
              <a:spcAft>
                <a:spcPts val="1000"/>
              </a:spcAft>
              <a:buClr>
                <a:schemeClr val="accent1"/>
              </a:buClr>
              <a:buSzPct val="100000"/>
              <a:buFont typeface="Wingdings" panose="05000000000000000000" pitchFamily="2" charset="2"/>
              <a:buChar char="Ø"/>
            </a:pPr>
            <a:r>
              <a:rPr lang="en-US" dirty="0"/>
              <a:t>Traditional meters do not provide any information at room/appliance level , also doesn’t show any usage patterns.</a:t>
            </a:r>
          </a:p>
          <a:p>
            <a:pPr marL="285750" indent="-285750">
              <a:spcAft>
                <a:spcPts val="1000"/>
              </a:spcAft>
              <a:buClr>
                <a:schemeClr val="accent1"/>
              </a:buClr>
              <a:buSzPct val="100000"/>
              <a:buFont typeface="Wingdings" panose="05000000000000000000" pitchFamily="2" charset="2"/>
              <a:buChar char="Ø"/>
            </a:pPr>
            <a:r>
              <a:rPr lang="en-US" sz="1800" dirty="0"/>
              <a:t>Leads to in</a:t>
            </a:r>
            <a:r>
              <a:rPr lang="en-US" dirty="0"/>
              <a:t>accuracy in calculations and is time consuming </a:t>
            </a:r>
            <a:endParaRPr lang="en-US" sz="1800" dirty="0"/>
          </a:p>
          <a:p>
            <a:pPr marL="279400" indent="-279400">
              <a:spcAft>
                <a:spcPts val="1000"/>
              </a:spcAft>
              <a:buClr>
                <a:schemeClr val="accent1"/>
              </a:buClr>
              <a:buSzPct val="100000"/>
              <a:buChar char="•"/>
            </a:pPr>
            <a:r>
              <a:rPr lang="en-US" sz="1800" dirty="0">
                <a:solidFill>
                  <a:schemeClr val="tx1"/>
                </a:solidFill>
              </a:rPr>
              <a:t>The gap they leave open (Key Challenges)</a:t>
            </a:r>
          </a:p>
          <a:p>
            <a:pPr marL="285750" indent="-285750">
              <a:spcAft>
                <a:spcPts val="1000"/>
              </a:spcAft>
              <a:buClr>
                <a:schemeClr val="accent1"/>
              </a:buClr>
              <a:buSzPct val="100000"/>
              <a:buFont typeface="Wingdings" panose="05000000000000000000" pitchFamily="2" charset="2"/>
              <a:buChar char="Ø"/>
            </a:pPr>
            <a:r>
              <a:rPr lang="en-US" dirty="0"/>
              <a:t>Both of these methods lack real-time monitoring and useful insights which could help people to identify their excessive electricity usage and act quickly to reduce wastage of energy.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ea typeface="Calibri"/>
                <a:cs typeface="Calibri"/>
              </a:rPr>
              <a:t>TEEN TITANS</a:t>
            </a:r>
            <a:endParaRPr lang="en-US" sz="1500" b="1" dirty="0">
              <a:solidFill>
                <a:schemeClr val="accent1"/>
              </a:solidFill>
              <a:ea typeface="Calibri"/>
              <a:cs typeface="Calibri"/>
            </a:endParaRP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5024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543560" y="1976120"/>
            <a:ext cx="10353040" cy="4826000"/>
          </a:xfrm>
          <a:prstGeom prst="rect">
            <a:avLst/>
          </a:prstGeom>
          <a:noFill/>
          <a:ln/>
        </p:spPr>
        <p:txBody>
          <a:bodyPr wrap="square" lIns="0" tIns="0" rIns="0" bIns="0" rtlCol="0" anchor="t"/>
          <a:lstStyle/>
          <a:p>
            <a:pPr>
              <a:buClr>
                <a:schemeClr val="accent1"/>
              </a:buClr>
              <a:buSzPct val="100000"/>
              <a:buFont typeface="Arial"/>
              <a:buChar char="•"/>
            </a:pPr>
            <a:r>
              <a:rPr lang="en-US" sz="1600" b="1">
                <a:ea typeface="+mn-lt"/>
                <a:cs typeface="+mn-lt"/>
              </a:rPr>
              <a:t>1. Hardware Requirements</a:t>
            </a:r>
          </a:p>
          <a:p>
            <a:pPr>
              <a:buFont typeface="Arial"/>
              <a:buChar char="•"/>
            </a:pPr>
            <a:r>
              <a:rPr lang="en-US" sz="1600">
                <a:ea typeface="+mn-lt"/>
                <a:cs typeface="+mn-lt"/>
              </a:rPr>
              <a:t>Smart energy meter or current and voltage sensors to monitor electricity consumption.</a:t>
            </a:r>
            <a:endParaRPr lang="en-US" sz="1600">
              <a:ea typeface="Calibri"/>
              <a:cs typeface="Calibri"/>
            </a:endParaRPr>
          </a:p>
          <a:p>
            <a:pPr>
              <a:buFont typeface="Arial"/>
              <a:buChar char="•"/>
            </a:pPr>
            <a:r>
              <a:rPr lang="en-US" sz="1600">
                <a:ea typeface="+mn-lt"/>
                <a:cs typeface="+mn-lt"/>
              </a:rPr>
              <a:t>Microcontroller (ESP32/Arduino) to process energy data.</a:t>
            </a:r>
            <a:endParaRPr lang="en-US" sz="1600">
              <a:ea typeface="Calibri"/>
              <a:cs typeface="Calibri"/>
            </a:endParaRPr>
          </a:p>
          <a:p>
            <a:pPr>
              <a:buFont typeface="Arial"/>
              <a:buChar char="•"/>
            </a:pPr>
            <a:r>
              <a:rPr lang="en-US" sz="1600">
                <a:ea typeface="+mn-lt"/>
                <a:cs typeface="+mn-lt"/>
              </a:rPr>
              <a:t>Wi-Fi connectivity module to transmit readings.</a:t>
            </a:r>
            <a:endParaRPr lang="en-US" sz="1600">
              <a:ea typeface="Calibri"/>
              <a:cs typeface="Calibri"/>
            </a:endParaRPr>
          </a:p>
          <a:p>
            <a:pPr>
              <a:buFont typeface="Arial"/>
              <a:buChar char="•"/>
            </a:pPr>
            <a:r>
              <a:rPr lang="en-US" sz="1600">
                <a:ea typeface="+mn-lt"/>
                <a:cs typeface="+mn-lt"/>
              </a:rPr>
              <a:t>Display unit or indicator lights for instant feedback.</a:t>
            </a:r>
            <a:endParaRPr lang="en-US" sz="1600">
              <a:ea typeface="Calibri"/>
              <a:cs typeface="Calibri"/>
            </a:endParaRPr>
          </a:p>
          <a:p>
            <a:pPr>
              <a:buFont typeface="Arial"/>
              <a:buChar char="•"/>
            </a:pPr>
            <a:r>
              <a:rPr lang="en-US" sz="1600">
                <a:ea typeface="+mn-lt"/>
                <a:cs typeface="+mn-lt"/>
              </a:rPr>
              <a:t>Safe, regulated power supply and electrical protection components.</a:t>
            </a:r>
            <a:endParaRPr lang="en-US" sz="1600">
              <a:ea typeface="Calibri"/>
              <a:cs typeface="Calibri"/>
            </a:endParaRPr>
          </a:p>
          <a:p>
            <a:pPr>
              <a:buFont typeface="Arial"/>
              <a:buChar char="•"/>
            </a:pPr>
            <a:r>
              <a:rPr lang="en-US" sz="1600" b="1">
                <a:ea typeface="+mn-lt"/>
                <a:cs typeface="+mn-lt"/>
              </a:rPr>
              <a:t>2. Software Requirements</a:t>
            </a:r>
          </a:p>
          <a:p>
            <a:pPr>
              <a:buFont typeface="Arial"/>
              <a:buChar char="•"/>
            </a:pPr>
            <a:r>
              <a:rPr lang="en-US" sz="1600">
                <a:ea typeface="+mn-lt"/>
                <a:cs typeface="+mn-lt"/>
              </a:rPr>
              <a:t>Energy monitoring dashboard to display real-time consumption in kWh.</a:t>
            </a:r>
            <a:endParaRPr lang="en-US" sz="1600">
              <a:ea typeface="Calibri"/>
              <a:cs typeface="Calibri"/>
            </a:endParaRPr>
          </a:p>
          <a:p>
            <a:pPr>
              <a:buFont typeface="Arial"/>
              <a:buChar char="•"/>
            </a:pPr>
            <a:r>
              <a:rPr lang="en-US" sz="1600">
                <a:ea typeface="+mn-lt"/>
                <a:cs typeface="+mn-lt"/>
              </a:rPr>
              <a:t>Mobile application or web interface to track usage and estimated costs.</a:t>
            </a:r>
            <a:endParaRPr lang="en-US" sz="1600">
              <a:ea typeface="Calibri"/>
              <a:cs typeface="Calibri"/>
            </a:endParaRPr>
          </a:p>
          <a:p>
            <a:pPr>
              <a:buFont typeface="Arial"/>
              <a:buChar char="•"/>
            </a:pPr>
            <a:r>
              <a:rPr lang="en-US" sz="1600">
                <a:ea typeface="+mn-lt"/>
                <a:cs typeface="+mn-lt"/>
              </a:rPr>
              <a:t>Alert system through mobile notifications, SMS, or email.</a:t>
            </a:r>
            <a:endParaRPr lang="en-US" sz="1600">
              <a:ea typeface="Calibri"/>
              <a:cs typeface="Calibri"/>
            </a:endParaRPr>
          </a:p>
          <a:p>
            <a:pPr>
              <a:buFont typeface="Arial"/>
              <a:buChar char="•"/>
            </a:pPr>
            <a:r>
              <a:rPr lang="en-US" sz="1600">
                <a:ea typeface="+mn-lt"/>
                <a:cs typeface="+mn-lt"/>
              </a:rPr>
              <a:t>Data analytics to identify high-consumption appliances and unusual usage.</a:t>
            </a:r>
            <a:endParaRPr lang="en-US" sz="1600">
              <a:ea typeface="Calibri"/>
              <a:cs typeface="Calibri"/>
            </a:endParaRPr>
          </a:p>
          <a:p>
            <a:pPr>
              <a:buFont typeface="Arial"/>
              <a:buChar char="•"/>
            </a:pPr>
            <a:r>
              <a:rPr lang="en-US" sz="1600">
                <a:ea typeface="+mn-lt"/>
                <a:cs typeface="+mn-lt"/>
              </a:rPr>
              <a:t>Cloud database to store historical consumption data and generate reports.</a:t>
            </a:r>
            <a:endParaRPr lang="en-US" sz="1600">
              <a:ea typeface="Calibri"/>
              <a:cs typeface="Calibri"/>
            </a:endParaRPr>
          </a:p>
          <a:p>
            <a:pPr>
              <a:buFont typeface="Arial"/>
              <a:buChar char="•"/>
            </a:pPr>
            <a:r>
              <a:rPr lang="en-US" sz="1600" b="1">
                <a:ea typeface="+mn-lt"/>
                <a:cs typeface="+mn-lt"/>
              </a:rPr>
              <a:t>3. Other Resources (Including Human Resources)</a:t>
            </a:r>
          </a:p>
          <a:p>
            <a:pPr>
              <a:buFont typeface="Arial"/>
              <a:buChar char="•"/>
            </a:pPr>
            <a:r>
              <a:rPr lang="en-US" sz="1600">
                <a:ea typeface="+mn-lt"/>
                <a:cs typeface="+mn-lt"/>
              </a:rPr>
              <a:t>Team members for hardware development, software development, and UI/UX design.</a:t>
            </a:r>
            <a:endParaRPr lang="en-US" sz="1600">
              <a:ea typeface="Calibri"/>
              <a:cs typeface="Calibri"/>
            </a:endParaRPr>
          </a:p>
          <a:p>
            <a:pPr>
              <a:buFont typeface="Arial"/>
              <a:buChar char="•"/>
            </a:pPr>
            <a:r>
              <a:rPr lang="en-US" sz="1600">
                <a:ea typeface="+mn-lt"/>
                <a:cs typeface="+mn-lt"/>
              </a:rPr>
              <a:t>Electrical engineering guidance for safe installation and testing.</a:t>
            </a:r>
            <a:endParaRPr lang="en-US" sz="1600">
              <a:ea typeface="Calibri"/>
              <a:cs typeface="Calibri"/>
            </a:endParaRPr>
          </a:p>
          <a:p>
            <a:pPr>
              <a:buFont typeface="Arial"/>
              <a:buChar char="•"/>
            </a:pPr>
            <a:r>
              <a:rPr lang="en-US" sz="1600">
                <a:ea typeface="+mn-lt"/>
                <a:cs typeface="+mn-lt"/>
              </a:rPr>
              <a:t>Test appliances and a controlled environment for prototype validation.</a:t>
            </a:r>
            <a:endParaRPr lang="en-US" sz="1600">
              <a:ea typeface="Calibri"/>
              <a:cs typeface="Calibri"/>
            </a:endParaRPr>
          </a:p>
          <a:p>
            <a:pPr>
              <a:buFont typeface="Arial"/>
              <a:buChar char="•"/>
            </a:pPr>
            <a:r>
              <a:rPr lang="en-US" sz="1600">
                <a:ea typeface="+mn-lt"/>
                <a:cs typeface="+mn-lt"/>
              </a:rPr>
              <a:t>Research on electricity tariffs, energy-saving practices, and user needs.</a:t>
            </a:r>
            <a:endParaRPr lang="en-US" sz="1600">
              <a:ea typeface="Calibri"/>
              <a:cs typeface="Calibri"/>
            </a:endParaRPr>
          </a:p>
          <a:p>
            <a:pPr>
              <a:buFont typeface="Arial"/>
              <a:buChar char="•"/>
            </a:pPr>
            <a:r>
              <a:rPr lang="en-US" sz="1600">
                <a:ea typeface="+mn-lt"/>
                <a:cs typeface="+mn-lt"/>
              </a:rPr>
              <a:t>Budget for sensors, components, connectivity, and prototype development.</a:t>
            </a:r>
            <a:endParaRPr lang="en-US" sz="1600">
              <a:ea typeface="Calibri"/>
              <a:cs typeface="Calibri"/>
            </a:endParaRPr>
          </a:p>
          <a:p>
            <a:pPr marL="279400" indent="-279400">
              <a:spcAft>
                <a:spcPts val="1000"/>
              </a:spcAft>
              <a:buClr>
                <a:schemeClr val="accent1"/>
              </a:buClr>
              <a:buSzPct val="100000"/>
              <a:buChar char="•"/>
            </a:pPr>
            <a:endParaRPr lang="en-US" sz="180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ea typeface="Calibri"/>
                <a:cs typeface="Calibri"/>
              </a:rPr>
              <a:t>TEEN TITANS</a:t>
            </a:r>
            <a:endParaRPr lang="en-US" sz="1500" b="1" dirty="0">
              <a:solidFill>
                <a:schemeClr val="accent1"/>
              </a:solidFill>
              <a:ea typeface="Calibri"/>
              <a:cs typeface="Calibri"/>
            </a:endParaRPr>
          </a:p>
        </p:txBody>
      </p:sp>
      <p:sp>
        <p:nvSpPr>
          <p:cNvPr id="7" name="Lead Icon Hex"/>
          <p:cNvSpPr/>
          <p:nvPr/>
        </p:nvSpPr>
        <p:spPr>
          <a:xfrm>
            <a:off x="375920" y="129032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467360" y="1350670"/>
            <a:ext cx="274320" cy="274320"/>
          </a:xfrm>
          <a:prstGeom prst="rect">
            <a:avLst/>
          </a:prstGeom>
        </p:spPr>
      </p:pic>
      <p:sp>
        <p:nvSpPr>
          <p:cNvPr id="9" name="Lead Text"/>
          <p:cNvSpPr txBox="1"/>
          <p:nvPr/>
        </p:nvSpPr>
        <p:spPr>
          <a:xfrm>
            <a:off x="835152" y="110236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929640" y="1620520"/>
            <a:ext cx="10353040" cy="5516880"/>
          </a:xfrm>
          <a:prstGeom prst="rect">
            <a:avLst/>
          </a:prstGeom>
          <a:noFill/>
          <a:ln/>
        </p:spPr>
        <p:txBody>
          <a:bodyPr wrap="square" lIns="0" tIns="0" rIns="0" bIns="0" rtlCol="0" anchor="t"/>
          <a:lstStyle/>
          <a:p>
            <a:pPr>
              <a:buClr>
                <a:schemeClr val="accent1"/>
              </a:buClr>
              <a:buSzPct val="100000"/>
              <a:buFont typeface="Arial"/>
              <a:buChar char="•"/>
            </a:pPr>
            <a:r>
              <a:rPr lang="en-US" sz="1600" b="1">
                <a:ea typeface="+mn-lt"/>
                <a:cs typeface="+mn-lt"/>
              </a:rPr>
              <a:t>1. What Is Our Team Planning to Do?</a:t>
            </a:r>
            <a:endParaRPr lang="en-US" sz="1600">
              <a:ea typeface="Calibri"/>
              <a:cs typeface="Calibri"/>
            </a:endParaRPr>
          </a:p>
          <a:p>
            <a:pPr>
              <a:buFont typeface="Arial"/>
              <a:buChar char="•"/>
            </a:pPr>
            <a:r>
              <a:rPr lang="en-US" sz="1600">
                <a:ea typeface="+mn-lt"/>
                <a:cs typeface="+mn-lt"/>
              </a:rPr>
              <a:t>Develop a smart system that monitors electricity consumption in real time.</a:t>
            </a:r>
            <a:endParaRPr lang="en-US" sz="1600">
              <a:ea typeface="Calibri"/>
              <a:cs typeface="Calibri"/>
            </a:endParaRPr>
          </a:p>
          <a:p>
            <a:pPr>
              <a:buFont typeface="Arial"/>
              <a:buChar char="•"/>
            </a:pPr>
            <a:r>
              <a:rPr lang="en-US" sz="1600">
                <a:ea typeface="+mn-lt"/>
                <a:cs typeface="+mn-lt"/>
              </a:rPr>
              <a:t>Display electricity usage in kWh and estimate the corresponding electricity cost.</a:t>
            </a:r>
            <a:endParaRPr lang="en-US" sz="1600">
              <a:ea typeface="Calibri"/>
              <a:cs typeface="Calibri"/>
            </a:endParaRPr>
          </a:p>
          <a:p>
            <a:pPr>
              <a:buFont typeface="Arial"/>
              <a:buChar char="•"/>
            </a:pPr>
            <a:r>
              <a:rPr lang="en-US" sz="1600">
                <a:ea typeface="+mn-lt"/>
                <a:cs typeface="+mn-lt"/>
              </a:rPr>
              <a:t>Send alerts when consumption exceeds a user-defined limit or unusual usage is detected.</a:t>
            </a:r>
            <a:endParaRPr lang="en-US" sz="1600">
              <a:ea typeface="Calibri"/>
              <a:cs typeface="Calibri"/>
            </a:endParaRPr>
          </a:p>
          <a:p>
            <a:pPr>
              <a:buFont typeface="Arial"/>
              <a:buChar char="•"/>
            </a:pPr>
            <a:r>
              <a:rPr lang="en-US" sz="1600">
                <a:ea typeface="+mn-lt"/>
                <a:cs typeface="+mn-lt"/>
              </a:rPr>
              <a:t>Provide daily, weekly, and monthly reports to help users understand their energy habits.</a:t>
            </a:r>
            <a:endParaRPr lang="en-US" sz="1600">
              <a:ea typeface="Calibri"/>
              <a:cs typeface="Calibri"/>
            </a:endParaRPr>
          </a:p>
          <a:p>
            <a:pPr>
              <a:buFont typeface="Arial"/>
              <a:buChar char="•"/>
            </a:pPr>
            <a:r>
              <a:rPr lang="en-US" sz="1600" b="1">
                <a:ea typeface="+mn-lt"/>
                <a:cs typeface="+mn-lt"/>
              </a:rPr>
              <a:t>2. What Do We Want to Improve?</a:t>
            </a:r>
            <a:endParaRPr lang="en-US" sz="1600">
              <a:ea typeface="Calibri"/>
              <a:cs typeface="Calibri"/>
            </a:endParaRPr>
          </a:p>
          <a:p>
            <a:pPr>
              <a:buFont typeface="Arial"/>
              <a:buChar char="•"/>
            </a:pPr>
            <a:r>
              <a:rPr lang="en-US" sz="1600">
                <a:ea typeface="+mn-lt"/>
                <a:cs typeface="+mn-lt"/>
              </a:rPr>
              <a:t>Reduce unnecessary electricity consumption and wastage.</a:t>
            </a:r>
            <a:endParaRPr lang="en-US" sz="1600">
              <a:ea typeface="Calibri"/>
              <a:cs typeface="Calibri"/>
            </a:endParaRPr>
          </a:p>
          <a:p>
            <a:pPr>
              <a:buFont typeface="Arial"/>
              <a:buChar char="•"/>
            </a:pPr>
            <a:r>
              <a:rPr lang="en-US" sz="1600">
                <a:ea typeface="+mn-lt"/>
                <a:cs typeface="+mn-lt"/>
              </a:rPr>
              <a:t>Increase awareness of how much electricity appliances consume.</a:t>
            </a:r>
            <a:endParaRPr lang="en-US" sz="1600">
              <a:ea typeface="Calibri"/>
              <a:cs typeface="Calibri"/>
            </a:endParaRPr>
          </a:p>
          <a:p>
            <a:pPr>
              <a:buFont typeface="Arial"/>
              <a:buChar char="•"/>
            </a:pPr>
            <a:r>
              <a:rPr lang="en-US" sz="1600">
                <a:ea typeface="+mn-lt"/>
                <a:cs typeface="+mn-lt"/>
              </a:rPr>
              <a:t>Help users identify high-consumption appliances and inefficient usage patterns.</a:t>
            </a:r>
            <a:endParaRPr lang="en-US" sz="1600">
              <a:ea typeface="Calibri"/>
              <a:cs typeface="Calibri"/>
            </a:endParaRPr>
          </a:p>
          <a:p>
            <a:pPr>
              <a:buFont typeface="Arial"/>
              <a:buChar char="•"/>
            </a:pPr>
            <a:r>
              <a:rPr lang="en-US" sz="1600">
                <a:ea typeface="+mn-lt"/>
                <a:cs typeface="+mn-lt"/>
              </a:rPr>
              <a:t>Make energy monitoring simple, accessible, and affordable.</a:t>
            </a:r>
            <a:endParaRPr lang="en-US" sz="1600">
              <a:ea typeface="Calibri"/>
              <a:cs typeface="Calibri"/>
            </a:endParaRPr>
          </a:p>
          <a:p>
            <a:pPr>
              <a:buFont typeface="Arial"/>
              <a:buChar char="•"/>
            </a:pPr>
            <a:r>
              <a:rPr lang="en-US" sz="1600">
                <a:ea typeface="+mn-lt"/>
                <a:cs typeface="+mn-lt"/>
              </a:rPr>
              <a:t>Encourage responsible electricity usage through timely alerts and actionable suggestions.</a:t>
            </a:r>
            <a:endParaRPr lang="en-US" sz="1600">
              <a:ea typeface="Calibri"/>
              <a:cs typeface="Calibri"/>
            </a:endParaRPr>
          </a:p>
          <a:p>
            <a:pPr>
              <a:buFont typeface="Arial"/>
              <a:buChar char="•"/>
            </a:pPr>
            <a:r>
              <a:rPr lang="en-US" sz="1600" b="1">
                <a:ea typeface="+mn-lt"/>
                <a:cs typeface="+mn-lt"/>
              </a:rPr>
              <a:t>3. What Successful Improvement Should We Achieve?</a:t>
            </a:r>
            <a:endParaRPr lang="en-US" sz="1600">
              <a:ea typeface="Calibri"/>
              <a:cs typeface="Calibri"/>
            </a:endParaRPr>
          </a:p>
          <a:p>
            <a:pPr>
              <a:buFont typeface="Arial"/>
              <a:buChar char="•"/>
            </a:pPr>
            <a:r>
              <a:rPr lang="en-US" sz="1600">
                <a:ea typeface="+mn-lt"/>
                <a:cs typeface="+mn-lt"/>
              </a:rPr>
              <a:t>Help users make informed decisions about their electricity usage.</a:t>
            </a:r>
            <a:endParaRPr lang="en-US" sz="1600">
              <a:ea typeface="Calibri"/>
              <a:cs typeface="Calibri"/>
            </a:endParaRPr>
          </a:p>
          <a:p>
            <a:pPr>
              <a:buFont typeface="Arial"/>
              <a:buChar char="•"/>
            </a:pPr>
            <a:r>
              <a:rPr lang="en-US" sz="1600">
                <a:ea typeface="+mn-lt"/>
                <a:cs typeface="+mn-lt"/>
              </a:rPr>
              <a:t>Reduce avoidable energy wastage and electricity expenses.</a:t>
            </a:r>
            <a:endParaRPr lang="en-US" sz="1600">
              <a:ea typeface="Calibri"/>
              <a:cs typeface="Calibri"/>
            </a:endParaRPr>
          </a:p>
          <a:p>
            <a:pPr>
              <a:buFont typeface="Arial"/>
              <a:buChar char="•"/>
            </a:pPr>
            <a:r>
              <a:rPr lang="en-US" sz="1600">
                <a:ea typeface="+mn-lt"/>
                <a:cs typeface="+mn-lt"/>
              </a:rPr>
              <a:t>Encourage energy-saving habits at homes, hostels, and small workplaces.</a:t>
            </a:r>
            <a:endParaRPr lang="en-US" sz="1600">
              <a:ea typeface="Calibri"/>
              <a:cs typeface="Calibri"/>
            </a:endParaRPr>
          </a:p>
          <a:p>
            <a:pPr>
              <a:buFont typeface="Arial"/>
              <a:buChar char="•"/>
            </a:pPr>
            <a:r>
              <a:rPr lang="en-US" sz="1600">
                <a:ea typeface="+mn-lt"/>
                <a:cs typeface="+mn-lt"/>
              </a:rPr>
              <a:t>Provide clear consumption reports to track progress over time.</a:t>
            </a:r>
            <a:endParaRPr lang="en-US" sz="1600">
              <a:ea typeface="Calibri"/>
              <a:cs typeface="Calibri"/>
            </a:endParaRPr>
          </a:p>
          <a:p>
            <a:pPr>
              <a:buFont typeface="Arial"/>
              <a:buChar char="•"/>
            </a:pPr>
            <a:r>
              <a:rPr lang="en-US" sz="1600">
                <a:ea typeface="+mn-lt"/>
                <a:cs typeface="+mn-lt"/>
              </a:rPr>
              <a:t>Support sustainable electricity usage and reduce the environmental impact associated with energy generation.</a:t>
            </a:r>
            <a:endParaRPr lang="en-US" sz="1600">
              <a:ea typeface="Calibri"/>
              <a:cs typeface="Calibri"/>
            </a:endParaRPr>
          </a:p>
          <a:p>
            <a:pPr>
              <a:buFont typeface="Arial"/>
              <a:buChar char="•"/>
            </a:pPr>
            <a:r>
              <a:rPr lang="en-US" sz="1600" b="1">
                <a:ea typeface="+mn-lt"/>
                <a:cs typeface="+mn-lt"/>
              </a:rPr>
              <a:t>Expected Outcome:</a:t>
            </a:r>
            <a:r>
              <a:rPr lang="en-US" sz="1600">
                <a:ea typeface="+mn-lt"/>
                <a:cs typeface="+mn-lt"/>
              </a:rPr>
              <a:t> A working prototype that measures electricity consumption, estimates costs, and alerts users when usage exceeds their chosen limits, enabling smarter decisions and more sustainable energy use.</a:t>
            </a:r>
            <a:endParaRPr lang="en-US" sz="1600">
              <a:ea typeface="Calibri"/>
              <a:cs typeface="Calibri"/>
            </a:endParaRPr>
          </a:p>
          <a:p>
            <a:pPr marL="279400" indent="-279400">
              <a:spcAft>
                <a:spcPts val="1000"/>
              </a:spcAft>
              <a:buClr>
                <a:schemeClr val="accent1"/>
              </a:buClr>
              <a:buSzPct val="100000"/>
              <a:buChar char="•"/>
            </a:pPr>
            <a:endParaRPr lang="en-US" sz="1600" dirty="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TEEN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2769877522"/>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err="1">
                          <a:solidFill>
                            <a:schemeClr val="tx1"/>
                          </a:solidFill>
                          <a:latin typeface="Calibri"/>
                          <a:ea typeface="Calibri"/>
                          <a:cs typeface="Calibri"/>
                        </a:rPr>
                        <a:t>Dharsshini</a:t>
                      </a:r>
                      <a:r>
                        <a:rPr lang="en-US" sz="1400" b="1" dirty="0">
                          <a:solidFill>
                            <a:schemeClr val="tx1"/>
                          </a:solidFill>
                          <a:latin typeface="Calibri"/>
                          <a:ea typeface="Calibri"/>
                          <a:cs typeface="Calibri"/>
                        </a:rPr>
                        <a:t> B A</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Problem Identification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bg2">
                              <a:lumMod val="10000"/>
                            </a:schemeClr>
                          </a:solidFill>
                          <a:latin typeface="Calibri" pitchFamily="34" charset="0"/>
                          <a:ea typeface="Calibri" pitchFamily="34" charset="-122"/>
                          <a:cs typeface="Calibri" pitchFamily="34" charset="-120"/>
                        </a:rPr>
                        <a:t>Research and Design Thinking – Study the problem , existing solutions , Identify limitations of existing methods and conduct user research</a:t>
                      </a:r>
                      <a:endParaRPr lang="en-US" sz="1400" dirty="0">
                        <a:solidFill>
                          <a:schemeClr val="bg2">
                            <a:lumMod val="10000"/>
                          </a:schemeClr>
                        </a:solidFill>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a:solidFill>
                            <a:schemeClr val="tx1"/>
                          </a:solidFill>
                          <a:latin typeface="Calibri"/>
                          <a:ea typeface="Calibri"/>
                          <a:cs typeface="Calibri"/>
                        </a:rPr>
                        <a:t>M Dharshan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Software and Smart Features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Program the controller , develop dashboards/mobile app interface , implement alerts , recommendations and work on historical usage analysis</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err="1">
                          <a:solidFill>
                            <a:schemeClr val="tx1"/>
                          </a:solidFill>
                          <a:latin typeface="Calibri"/>
                          <a:ea typeface="Calibri"/>
                          <a:cs typeface="Calibri"/>
                        </a:rPr>
                        <a:t>Mirnalitha</a:t>
                      </a:r>
                      <a:r>
                        <a:rPr lang="en-US" sz="1400" b="1">
                          <a:solidFill>
                            <a:schemeClr val="tx1"/>
                          </a:solidFill>
                          <a:latin typeface="Calibri"/>
                          <a:ea typeface="Calibri"/>
                          <a:cs typeface="Calibri"/>
                        </a:rPr>
                        <a:t> VS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Prototype Integration and presentation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Create virtual prototype , coordinate integration of hardware and software , prepare business model , presentation , feasibility report and organize prototype testing. </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Miruthala Mohan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Hardware Development</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Select the components ( sensors , controllers , etc. ) , design the electricity monitoring circuit , develop physical prototype and test the readings </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689</Words>
  <Application>Microsoft Office PowerPoint</Application>
  <PresentationFormat>Widescreen</PresentationFormat>
  <Paragraphs>110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Genesis Ideathon</vt:lpstr>
      <vt:lpstr>PowerPoint Presentation</vt:lpstr>
      <vt:lpstr>DOMAIN PROBLEM IN OUR WORDS</vt:lpstr>
      <vt:lpstr>CURRENT SITUATION &amp; CONTEXT</vt:lpstr>
      <vt:lpstr>WHO IS AFFECTED?</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Miruthala Mohan</cp:lastModifiedBy>
  <cp:revision>132</cp:revision>
  <dcterms:created xsi:type="dcterms:W3CDTF">2026-10-07T15:27:40Z</dcterms:created>
  <dcterms:modified xsi:type="dcterms:W3CDTF">2026-10-09T17:16:02Z</dcterms:modified>
</cp:coreProperties>
</file>